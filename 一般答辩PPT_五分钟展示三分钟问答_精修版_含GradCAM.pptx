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(current thesis mainline and stages): wangyh174/biyesheji/README.md
User GitHub docs/MIDTERM_DEFENSE_PROGRESS.md (project status and scope)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(problem scope and controlled groups)
User GitHub docs/MIDTERM_DEFENSE_PROGRESS.md (research objective)
Uploaded paper: Preserving Fairness Generalization in Deepfake Detection (motivation: fairness + generalization)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(Stage 00–09 pipeline and detector mainline)
User GitHub scripts/03_run_detectors.py (CURRENT_THESIS_DETECTORS = cnndetection, lgrad, npr)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(generation, standardization, filter stages)
User GitHub docs/MIDTERM_DEFENSE_PROGRESS.md (data construction and filter details)
User GitHub results/fairness_tables/* (current committed evaluation scale)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results/master_report/MASTER_REPORT.md
User GitHub results/master_report/detector_fairness_comparison.csv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results/fairness_tables/cnndetection/group_metrics.csv
User GitHub results/fairness_tables/lgrad/group_metrics.csv
User GitHub results/fairness_tables/npr/group_metrics.csv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results/structural_attribution/structural_attribution_curve.csv
User GitHub results/master_report/patch_shuffling_impact.csv
User GitHub results/master_report/master_summary.json (high_pass_results)
Uploaded paper: Preserving Fairness Generalization in Deepfake Detection (motivation for fairness generalization and feature/optimization perspective)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results/master_report/MASTER_REPORT.md
User GitHub README.md and docs/MIDTERM_DEFENSE_PROGRESS.md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960120"/>
            <a:ext cx="1102360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5263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面向医护职业与性别分组的AIGC 图像检测公平性评估与归因分析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学生：王英晗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主要内容：技术路线、实验过程、实验结果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Mainline: CNNDetection · LGrad · NPR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6455" y="2439035"/>
            <a:ext cx="10318115" cy="114300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研究问题：受控医疗职业场景下，不同检测器是否对不同群体表现出系统性偏差；若存在，这种偏差更依赖语义结构还是局部伪迹信号。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研究问题与总体思路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161288"/>
            <a:ext cx="3227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322783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在受控医疗职业场景中，评估主流预训练 AIGC / deepfake 检测器是否对不同群体存在系统性误判差异。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0515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16128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受控对象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62272" y="1453896"/>
            <a:ext cx="203911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四个组别：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male-doctor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female-doctor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male-nurse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female-nurse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94576" y="105156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161288"/>
            <a:ext cx="4370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总体目标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0" y="1453896"/>
            <a:ext cx="437083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在保证实验可解释性的前提下，完成“数据控制 → 公平评估 → 归因分析”的闭环，并给出与成熟研究趋势一致的结论。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10972800" cy="2514600"/>
          </a:xfrm>
          <a:prstGeom prst="roundRect">
            <a:avLst>
              <a:gd name="adj" fmla="val 2182"/>
            </a:avLst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807208"/>
            <a:ext cx="10680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127248"/>
            <a:ext cx="10378440" cy="1508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1）先控制数据侧偏差：</a:t>
            </a:r>
            <a:r>
              <a:rPr lang="en-US" sz="14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Fair-Diffusion + Stable Diffusion 1.5 生成 fake，真实图统一标准化，再做 CLIP 语义筛选和分组平衡。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2）再评估检测器偏差：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 CNNDetection、LGrad、NPR 在 Accuracy / AUC 与 FFPR / FOAE 等公平指标上的差异。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3）最后分析偏差来源：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patch shuffling 与 high-pass residual 两类实验，判断检测器更依赖全局结构还是局部伪迹。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不是单看 overall accuracy，而是同时关注“检测性能—群体公平性—偏差来源解释”三者之间的关系。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详细技术路线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Technical Route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69494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00/01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数据标准化与生成</a:t>
            </a:r>
            <a:endParaRPr lang="en-US" sz="125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94690" y="2066925"/>
            <a:ext cx="1490345" cy="131635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real 图先做物理标准化；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fake 图采用 Fair-Diffusion + SD1.5；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 metadata。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39572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297180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11810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02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质量筛选与平衡</a:t>
            </a:r>
            <a:endParaRPr lang="en-US" sz="125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117850" y="2045335"/>
            <a:ext cx="1490345" cy="133794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CLIP 语义一致性、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目标组一致性、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human-photo 约束、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分组平衡保留。</a:t>
            </a:r>
            <a:endParaRPr lang="en-US" sz="11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81888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539496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554126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03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检测器推理</a:t>
            </a:r>
            <a:endParaRPr lang="en-US" sz="125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541010" y="2051685"/>
            <a:ext cx="1490345" cy="133159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thesis mainline：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LGrad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NPR</a:t>
            </a:r>
            <a:endParaRPr lang="en-US" sz="11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724204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781812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796442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04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公平性评估</a:t>
            </a:r>
            <a:endParaRPr lang="en-US" sz="125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7964170" y="2023745"/>
            <a:ext cx="1490345" cy="135953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group metrics、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overall metrics、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fairness summary、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bootstrap CI。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966520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24128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758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06/08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归因分析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387330" y="2020570"/>
            <a:ext cx="1490345" cy="136271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patch shuffling 分析结构依赖；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high-pass residual 分析高频信号依赖。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858768"/>
            <a:ext cx="10972800" cy="1508760"/>
          </a:xfrm>
          <a:prstGeom prst="roundRect">
            <a:avLst>
              <a:gd name="adj" fmla="val 3636"/>
            </a:avLst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968496"/>
            <a:ext cx="10680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实现层要点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4251960"/>
            <a:ext cx="10424160" cy="65836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数据控制：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以受控四组场景避免群体语义混杂。 </a:t>
            </a: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模型主线：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README 与代码统一以 CNNDetection / LGrad / NPR 作为当前 thesis detectors。 </a:t>
            </a: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结果产物：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results/fairness_tables、results/structural_attribution、results/master_report。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98348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说明：本答辩重点展示主线结果；Grad-CAM、physical consistency 等内容保留为补充分析。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实验过程与设置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161288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1）数据集构建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3364992" cy="15179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real 图：本地收集后标准化处理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fake 图：Fair-Diffusion + Stable Diffusion 1.5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四组受控场景：职业 × 性别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当前 committed 结果对应稳定可复现实验集：72 张（每组 18）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161288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2）样本筛选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1144" y="1453896"/>
            <a:ext cx="3044952" cy="15179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CLIP 语义一致性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target-group consistency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human photo / competitor / negative 对比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prebalance → balanced 的中间文件可追溯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001000" y="10515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116128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3）推理与评估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47304" y="1453896"/>
            <a:ext cx="3273552" cy="15179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统一输入标准化与 crop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Detector 输出 score / y_hat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指标：Accuracy、AUC、FFPR、FOAE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置信区间：group × y_true 分层 bootstrap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85800" y="3675888"/>
            <a:ext cx="107899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6732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为什么这样设计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4069080"/>
            <a:ext cx="10378440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做的目的不是构造一个“开放世界大数据集”，而是先在控制变量足够强的场景下验证：偏差是否真实存在，以及偏差更可能来自语义结构还是局部伪迹。当前结果应被理解为“受控验证与机制分析结果”，而非对所有场景的一步到位外推。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804672" y="4736592"/>
            <a:ext cx="10332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重点强调“总体趋势”和“机制解释”，避免将小样本中的局部波动直接外推为普遍规律。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实验结果一：总体性能与公平性比较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Main Results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5577840" cy="2011680"/>
          </a:xfrm>
          <a:prstGeom prst="roundRect">
            <a:avLst>
              <a:gd name="adj" fmla="val 2727"/>
            </a:avLst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115568"/>
            <a:ext cx="5285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总体结果表（当前 committed results）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1481328"/>
            <a:ext cx="155448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45336"/>
            <a:ext cx="15179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Detector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04288" y="1481328"/>
            <a:ext cx="86868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2576" y="1545336"/>
            <a:ext cx="8321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1481328"/>
            <a:ext cx="77724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1545336"/>
            <a:ext cx="7406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50208" y="1481328"/>
            <a:ext cx="77724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1545336"/>
            <a:ext cx="7406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FFPR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7448" y="1481328"/>
            <a:ext cx="77724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545336"/>
            <a:ext cx="7406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FOAE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1773936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1856232"/>
            <a:ext cx="15179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CNNDetection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1773936"/>
            <a:ext cx="868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1856232"/>
            <a:ext cx="8321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0.653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1773936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1856232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0.638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50208" y="1773936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68496" y="1856232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27448" y="1773936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856232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0.111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" y="2121408"/>
            <a:ext cx="155448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2203704"/>
            <a:ext cx="15179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LGrad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04288" y="2121408"/>
            <a:ext cx="86868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22576" y="2203704"/>
            <a:ext cx="8321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0.903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72968" y="2121408"/>
            <a:ext cx="77724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1256" y="2203704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0.973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50208" y="2121408"/>
            <a:ext cx="77724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68496" y="2203704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0.273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27448" y="2121408"/>
            <a:ext cx="77724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2203704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0.167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2468880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2551176"/>
            <a:ext cx="15179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NPR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04288" y="2468880"/>
            <a:ext cx="868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22576" y="2551176"/>
            <a:ext cx="8321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0.972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72968" y="2468880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551176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0.976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50208" y="2468880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68496" y="2551176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0.182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27448" y="2468880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5736" y="2551176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3154680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FFPR/FOAE 越低越公平；Accuracy/AUC 越高越好。</a:t>
            </a:r>
            <a:endParaRPr lang="en-US" sz="1080" dirty="0"/>
          </a:p>
        </p:txBody>
      </p:sp>
      <p:pic>
        <p:nvPicPr>
          <p:cNvPr id="49" name="Image 0" descr="/mnt/data/ppt_assets/overall_ba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585" y="1051560"/>
            <a:ext cx="4080510" cy="233172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8368" y="370332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结果解读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822960" y="4005072"/>
            <a:ext cx="10241280" cy="65836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CNNDetection：</a:t>
            </a:r>
            <a:r>
              <a:rPr lang="en-US" sz="121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FPR gap 接近 0，但 AUC 与 Accuracy 明显偏低，说明其“公平”更多来自整体判别边界偏保守，而不是更强的鲁棒性。
</a:t>
            </a:r>
            <a:r>
              <a:rPr lang="en-US" sz="121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LGrad：</a:t>
            </a:r>
            <a:r>
              <a:rPr lang="en-US" sz="121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检测性能显著提升，但 FFPR / FOAE 更高，说明性能提升并不自动带来公平性改善。
</a:t>
            </a:r>
            <a:r>
              <a:rPr lang="en-US" sz="121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NPR：</a:t>
            </a:r>
            <a:r>
              <a:rPr lang="en-US" sz="121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在当前主线中取得最佳 Accuracy/AUC，同时维持较低 fairness gap；总体趋势与该领域对局部统计特征更稳健的认识大体一致。</a:t>
            </a:r>
            <a:endParaRPr lang="en-US" sz="1210" dirty="0"/>
          </a:p>
        </p:txBody>
      </p:sp>
      <p:sp>
        <p:nvSpPr>
          <p:cNvPr id="53" name="Text 50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实验结果二：group 级偏差分布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Group-wise Bias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pic>
        <p:nvPicPr>
          <p:cNvPr id="6" name="Image 0" descr="/mnt/data/ppt_assets/fpr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078992"/>
            <a:ext cx="3291840" cy="2194560"/>
          </a:xfrm>
          <a:prstGeom prst="rect">
            <a:avLst/>
          </a:prstGeom>
        </p:spPr>
      </p:pic>
      <p:pic>
        <p:nvPicPr>
          <p:cNvPr id="7" name="Image 1" descr="/mnt/data/ppt_assets/fn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1078992"/>
            <a:ext cx="3291840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3611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9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6384" y="3721608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CNNDetection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86384" y="4014216"/>
            <a:ext cx="318211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四组 FPR 均为 0，但 FNR 在 0.71–1.00 之间，说明该方法在当前实验中更大的问题是“漏检 fake”，而不是“误报 real”。</a:t>
            </a:r>
            <a:endParaRPr lang="en-US" sz="1130" dirty="0"/>
          </a:p>
        </p:txBody>
      </p:sp>
      <p:sp>
        <p:nvSpPr>
          <p:cNvPr id="11" name="Shape 7"/>
          <p:cNvSpPr/>
          <p:nvPr/>
        </p:nvSpPr>
        <p:spPr>
          <a:xfrm>
            <a:off x="4370832" y="3611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6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17136" y="3721608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LGrad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17136" y="4014216"/>
            <a:ext cx="318211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FPR 差异更明显，尤其 male-nurse 组 FPR 最高（0.2727）。这说明梯度型 detector 的性能提升伴随更强的 demographic false positive 偏差。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8101584" y="3611880"/>
            <a:ext cx="3447288" cy="1417320"/>
          </a:xfrm>
          <a:prstGeom prst="roundRect">
            <a:avLst>
              <a:gd name="adj" fmla="val 3871"/>
            </a:avLst>
          </a:prstGeom>
          <a:solidFill>
            <a:srgbClr val="F3FB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47888" y="372160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247888" y="4014216"/>
            <a:ext cx="3154680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前三组几乎达到 100% 准确，仅 male-nurse 组保留有限 FPR 偏差（0.1818）“trade-off 最优”，而非“完全无偏”。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实验结果三：结构归因与高频残差分析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Attribution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pic>
        <p:nvPicPr>
          <p:cNvPr id="6" name="Image 0" descr="/mnt/data/ppt_assets/patch_shuff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958" y="1078992"/>
            <a:ext cx="3756660" cy="2331720"/>
          </a:xfrm>
          <a:prstGeom prst="rect">
            <a:avLst/>
          </a:prstGeom>
        </p:spPr>
      </p:pic>
      <p:pic>
        <p:nvPicPr>
          <p:cNvPr id="7" name="Image 1" descr="/mnt/data/ppt_assets/highpas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3" y="1261872"/>
            <a:ext cx="2726575" cy="1874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3639312"/>
            <a:ext cx="108356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4088" y="37307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结果讨论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4005072"/>
            <a:ext cx="10241280" cy="7315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Patch shuffling：</a:t>
            </a:r>
            <a:r>
              <a:rPr lang="en-US" sz="12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CNNDetection 随结构破坏显著退化，说明其更依赖全局结构；LGrad 与 NPR 仍保持较高 AUC，说明其判别更依赖局部纹理或邻域统计。
</a:t>
            </a:r>
            <a:r>
              <a:rPr lang="en-US" sz="1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High-pass only：</a:t>
            </a:r>
            <a:r>
              <a:rPr lang="en-US" sz="12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三类 detector 在仅保留高通残差时 AUC 均明显下降（约 0.46–0.60），说明“纯高频信号”本身并不足以单独支撑稳定检测。
</a:t>
            </a:r>
            <a:r>
              <a:rPr lang="en-US" sz="1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综合判断：</a:t>
            </a:r>
            <a:r>
              <a:rPr lang="en-US" sz="12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detector 更可能依赖“局部伪迹主导，但仍需一定结构上下文”的混合机制。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5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73D52"/>
                </a:solidFill>
                <a:latin typeface="微软雅黑" panose="020B0503020204020204" pitchFamily="34" charset="-122"/>
              </a:rPr>
              <a:t>实验结果四：Grad-CAM 可视化分析</a:t>
            </a:r>
            <a:endParaRPr sz="2200" b="1">
              <a:solidFill>
                <a:srgbClr val="273D52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6E767E"/>
                </a:solidFill>
                <a:latin typeface="Times New Roman" panose="02020603050405020304"/>
              </a:rPr>
              <a:t>Grad-CAM Analysis</a:t>
            </a:r>
            <a:endParaRPr sz="1000" i="1">
              <a:solidFill>
                <a:srgbClr val="6E767E"/>
              </a:solidFill>
              <a:latin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658368"/>
            <a:ext cx="11018520" cy="13716"/>
          </a:xfrm>
          <a:prstGeom prst="rect">
            <a:avLst/>
          </a:prstGeom>
          <a:solidFill>
            <a:srgbClr val="D2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987552"/>
            <a:ext cx="3749039" cy="5166360"/>
          </a:xfrm>
          <a:prstGeom prst="roundRect">
            <a:avLst/>
          </a:prstGeom>
          <a:solidFill>
            <a:srgbClr val="F8FAFC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1325880" cy="320040"/>
          </a:xfrm>
          <a:prstGeom prst="rect">
            <a:avLst/>
          </a:prstGeom>
          <a:solidFill>
            <a:srgbClr val="25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结果说明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D52"/>
                </a:solidFill>
                <a:latin typeface="微软雅黑" panose="020B0503020204020204" pitchFamily="34" charset="-122"/>
              </a:rPr>
              <a:t>实验目的</a:t>
            </a:r>
            <a:endParaRPr sz="1400" b="1">
              <a:solidFill>
                <a:srgbClr val="273D52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947672"/>
            <a:ext cx="30632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20">
                <a:solidFill>
                  <a:srgbClr val="4B4B4B"/>
                </a:solidFill>
                <a:latin typeface="微软雅黑" panose="020B0503020204020204" pitchFamily="34" charset="-122"/>
              </a:rPr>
              <a:t>利用 Grad-CAM 对检测器决策区域进行可视化，观察模型是否主要依赖面部伪造痕迹，还是同时受职业语义与场景信息影响。</a:t>
            </a:r>
            <a:endParaRPr sz="1120">
              <a:solidFill>
                <a:srgbClr val="4B4B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D52"/>
                </a:solidFill>
                <a:latin typeface="微软雅黑" panose="020B0503020204020204" pitchFamily="34" charset="-122"/>
              </a:rPr>
              <a:t>案例现象</a:t>
            </a:r>
            <a:endParaRPr sz="1400" b="1">
              <a:solidFill>
                <a:srgbClr val="273D5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3044952"/>
            <a:ext cx="30632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20">
                <a:solidFill>
                  <a:srgbClr val="4B4B4B"/>
                </a:solidFill>
                <a:latin typeface="微软雅黑" panose="020B0503020204020204" pitchFamily="34" charset="-122"/>
              </a:rPr>
              <a:t>该样本来自 female-doctor 真实图像。热力图显示，模型除对面部存在一定响应外，也对听诊器、白大褂、夹板及背景区域产生明显关注。</a:t>
            </a:r>
            <a:endParaRPr sz="1120">
              <a:solidFill>
                <a:srgbClr val="4B4B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858768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D52"/>
                </a:solidFill>
                <a:latin typeface="微软雅黑" panose="020B0503020204020204" pitchFamily="34" charset="-122"/>
              </a:rPr>
              <a:t>结果解释</a:t>
            </a:r>
            <a:endParaRPr sz="1400" b="1">
              <a:solidFill>
                <a:srgbClr val="273D5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4160520"/>
            <a:ext cx="30632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20">
                <a:solidFill>
                  <a:srgbClr val="4B4B4B"/>
                </a:solidFill>
                <a:latin typeface="微软雅黑" panose="020B0503020204020204" pitchFamily="34" charset="-122"/>
              </a:rPr>
              <a:t>说明检测器的判别依据并未完全集中在人脸真实性线索，可能混入职业相关物体、服饰和背景纹理等语义信息。这与前述偏差分析和结构归因结果总体一致。</a:t>
            </a:r>
            <a:endParaRPr sz="1120">
              <a:solidFill>
                <a:srgbClr val="4B4B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26280" y="987552"/>
            <a:ext cx="71780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emale-doctor_ActualReal_fd (15)_gradc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52144"/>
            <a:ext cx="6903720" cy="2379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81728" y="5559552"/>
            <a:ext cx="6812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60">
                <a:solidFill>
                  <a:srgbClr val="6E767E"/>
                </a:solidFill>
                <a:latin typeface="微软雅黑" panose="020B0503020204020204" pitchFamily="34" charset="-122"/>
              </a:rPr>
              <a:t>图：LGrad 在 female-doctor 真实样本上的 Grad-CAM 可视化结果。左图为原图，中图为热力图，右图为叠加结果。高响应区域未仅集中于面部，同时覆盖听诊器、服饰及背景区域，提示模型决策可能混入职业语义与场景线索。</a:t>
            </a:r>
            <a:endParaRPr sz="960">
              <a:solidFill>
                <a:srgbClr val="6E767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649456" y="6419088"/>
            <a:ext cx="182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  <a:latin typeface="微软雅黑" panose="020B0503020204020204" pitchFamily="34" charset="-122"/>
              </a:rPr>
              <a:t>8</a:t>
            </a:r>
            <a:endParaRPr sz="1100">
              <a:solidFill>
                <a:srgbClr val="78787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 &amp; QA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078865"/>
            <a:ext cx="10881995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6384" y="1188720"/>
            <a:ext cx="5285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4983480" cy="11887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1）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本文完成了“受控数据构建—公平性评估—偏差归因”的完整闭环。
</a:t>
            </a: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2）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在当前主线结果中，NPR 的 detection–fairness trade-off 最优；LGrad 性能强但偏差更明显；CNNDetection 更像保守基线。
</a:t>
            </a: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3）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归因实验显示：全局结构与局部伪迹都重要，但不同 detector 的依赖重点不同。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05910"/>
            <a:ext cx="10881360" cy="877570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4288536"/>
            <a:ext cx="10588752" cy="6035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当前工作已经能够稳定支持一个清晰结论：在受控医疗职业场景下，AIGC 检测器的性能与公平性并不天然一致；通过数据控制、组间评估与机制分析，可以更清楚地看见这种差异来自哪里。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谢谢各位老师！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>
                <a:solidFill>
                  <a:srgbClr val="787878"/>
                </a:solidFill>
                <a:latin typeface="微软雅黑" panose="020B0503020204020204" pitchFamily="34" charset="-122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2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3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4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5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6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7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8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9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0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1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2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3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4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5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6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3393</Words>
  <Application>WPS 演示</Application>
  <PresentationFormat>On-screen Show (16:9)</PresentationFormat>
  <Paragraphs>250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Times New Roman</vt:lpstr>
      <vt:lpstr>Times New Roman</vt:lpstr>
      <vt:lpstr>Times New Roman</vt:lpstr>
      <vt:lpstr>Times New Roman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面向医护职业与性别分组的AIGC图像检测公平性评估与归因分析</dc:title>
  <dc:creator>OpenAI</dc:creator>
  <dc:subject>毕业答辩PPT</dc:subject>
  <cp:lastModifiedBy>王英晗</cp:lastModifiedBy>
  <cp:revision>2</cp:revision>
  <dcterms:created xsi:type="dcterms:W3CDTF">2026-04-16T21:45:00Z</dcterms:created>
  <dcterms:modified xsi:type="dcterms:W3CDTF">2026-04-16T22:38:01Z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289644A838464AD1B124CE3BF71B3BAE_12</vt:lpwstr>
  </property>
</Properties>
</file>